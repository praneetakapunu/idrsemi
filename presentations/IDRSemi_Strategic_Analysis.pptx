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087"/>
                </a:solidFill>
              </a:defRPr>
            </a:pPr>
            <a:r>
              <a:t>IDRSemi Strategic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Pacetronix Partnership vs RISC-V Development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087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1. Executive Summary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2. Market Analysis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3. Option 1: Pacetronix Partnership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4. Option 2: RISC-V Development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5. Financial Projections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6. Risk Assessment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7. Recommendation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087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tIns="2286000"/>
          <a:lstStyle/>
          <a:p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Timeline: Pacetronix: 6-9 months to revenue | RISC-V: 12-18 months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Investment: Pacetronix: $50K-100K | RISC-V: $200K-500K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Risk Level: Pacetronix: Medium (regulatory) | RISC-V: High (market)</a:t>
            </a:r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t>• Growth Potential: Pacetronix: Steady | RISC-V: Exponential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8229600" cy="1097280"/>
          </a:xfrm>
          <a:prstGeom prst="round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Strategic Decision Point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Choose between immediate revenue (Pacetronix) or long-term IP ownership (RISC-V)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087"/>
                </a:solidFill>
              </a:defRPr>
            </a:pPr>
            <a:r>
              <a:t>Market Analysis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5356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03087"/>
                </a:solidFill>
              </a:defRPr>
            </a:pPr>
            <a:r>
              <a:t>Key Market Insights: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• Medical device market: 7.2% CAGR, highly regulated but stable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• RISC-V market: 35% CAGR, emerging technology with high growth potential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• Both markets offer significant opportunities with different risk profiles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087"/>
                </a:solidFill>
              </a:defRPr>
            </a:pPr>
            <a:r>
              <a:t>Option 1: Pacetronix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2B14C"/>
                </a:solidFill>
              </a:defRPr>
            </a:pPr>
            <a:r>
              <a:t>Advantages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Immediate revenue opportunity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Established customer with clear needs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High-margin medical market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Valuable regulatory experience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Potential for long-term partnership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Reference customer for future deals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7F27"/>
                </a:solidFill>
              </a:defRPr>
            </a:pPr>
            <a:r>
              <a:t>Challenges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Strict FDA compliance required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18-24 month development cycle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High liability insurance needs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Conservative design constraints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Limited IP ownership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Dependency on single customer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087"/>
                </a:solidFill>
              </a:defRPr>
            </a:pPr>
            <a:r>
              <a:t>Pacetronix: Technical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B0F0"/>
                </a:solidFill>
              </a:defRPr>
            </a:pPr>
            <a:r>
              <a:t>Core Specifications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Process Node: 180nm/130nm (mature, reliable)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Power Budget: &lt; 10µW active, &lt; 100nA standby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Operating Voltage: 1.0V - 3.6V (battery operation)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Temperature Range: -10°C to +55°C (implant conditions)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Lifetime: 10+ years continuous operation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Safety: Triple redundancy, fail-safe mechanisms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7315200" cy="164592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3087"/>
                </a:solidFill>
              </a:defRPr>
            </a:pPr>
            <a:r>
              <a:t>DV Excellence Required</a:t>
            </a:r>
          </a:p>
          <a:p>
            <a:pPr algn="l">
              <a:defRPr sz="1600">
                <a:solidFill>
                  <a:srgbClr val="595959"/>
                </a:solidFill>
              </a:defRPr>
            </a:pPr>
            <a:r>
              <a:t>• ISO 13485 compliant verification</a:t>
            </a:r>
            <a:br/>
            <a:r>
              <a:t>• 100% code coverage mandatory</a:t>
            </a:r>
            <a:br/>
            <a:r>
              <a:t>• Formal verification for critical blocks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087"/>
                </a:solidFill>
              </a:defRPr>
            </a:pPr>
            <a:r>
              <a:t>Option 2: RISC-V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2B14C"/>
                </a:solidFill>
              </a:defRPr>
            </a:pPr>
            <a:r>
              <a:t>Advantages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Full IP ownership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Hot technology trend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Large ecosystem support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Multiple market opportunities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Design freedom &amp; innovation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Potential for licensing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7F27"/>
                </a:solidFill>
              </a:defRPr>
            </a:pPr>
            <a:r>
              <a:t>Challenges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No immediate customer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Highly competitive market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Longer development timeline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Higher upfront investment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Marketing &amp; sales required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Need strong differentiation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087"/>
                </a:solidFill>
              </a:defRPr>
            </a:pPr>
            <a:r>
              <a:t>RISC-V: 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200">
                <a:solidFill>
                  <a:srgbClr val="00B0F0"/>
                </a:solidFill>
              </a:defRPr>
            </a:pPr>
            <a:r>
              <a:t>Proposed Architecture: RV32IMC + Custom Extensions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• Base: RV32I (minimal 32-bit integer ISA)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• M Extension: Hardware multiply/divide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• C Extension: Compressed instructions (code density)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• Custom: Domain-specific accelerators</a:t>
            </a:r>
          </a:p>
          <a:p>
            <a:br/>
            <a:pPr>
              <a:spcBef>
                <a:spcPts val="1200"/>
              </a:spcBef>
              <a:defRPr b="1" sz="2200">
                <a:solidFill>
                  <a:srgbClr val="22B14C"/>
                </a:solidFill>
              </a:defRPr>
            </a:pPr>
            <a:r>
              <a:t>Key Differentiators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Security Focus: Hardware root of trust, secure boot, crypto extensions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Power Optimization: Dynamic voltage scaling, power domains, sleep modes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AI/ML Ready: Custom instructions for inference, SIMD operations</a:t>
            </a:r>
          </a:p>
          <a:p>
            <a:pPr>
              <a:spcBef>
                <a:spcPts val="600"/>
              </a:spcBef>
              <a:defRPr sz="1600">
                <a:solidFill>
                  <a:srgbClr val="595959"/>
                </a:solidFill>
              </a:defRPr>
            </a:pPr>
            <a:r>
              <a:t>• Verification IP: Pre-verified UVM testbenches included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087"/>
                </a:solidFill>
              </a:defRPr>
            </a:pPr>
            <a:r>
              <a:t>Financial Projections (3-Year)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070376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75488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274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Pacetronix Path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RISC-V Path</a:t>
                      </a:r>
                    </a:p>
                  </a:txBody>
                  <a:tcPr>
                    <a:solidFill>
                      <a:srgbClr val="00308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95959"/>
                          </a:solidFill>
                        </a:defRPr>
                      </a:pPr>
                      <a:r>
                        <a:t>Initial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$50K - $100K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$200K - $500K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95959"/>
                          </a:solidFill>
                        </a:defRPr>
                      </a:pPr>
                      <a:r>
                        <a:t>Break-even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Month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Month 18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95959"/>
                          </a:solidFill>
                        </a:defRPr>
                      </a:pPr>
                      <a:r>
                        <a:t>3-Year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$3.7M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$4.3M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95959"/>
                          </a:solidFill>
                        </a:defRPr>
                      </a:pPr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595959"/>
                          </a:solidFill>
                        </a:defRPr>
                      </a:pPr>
                      <a:r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087"/>
                </a:solidFill>
              </a:defRPr>
            </a:pPr>
            <a:r>
              <a:t>Risk Assessment Matrix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9277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087"/>
                </a:solidFill>
              </a:defRPr>
            </a:pPr>
            <a:r>
              <a:t>Strategic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tIns="2011680"/>
          <a:lstStyle/>
          <a:p>
            <a:pPr>
              <a:defRPr b="1" sz="2400">
                <a:solidFill>
                  <a:srgbClr val="00B0F0"/>
                </a:solidFill>
              </a:defRPr>
            </a:pPr>
            <a:r>
              <a:t>Implementation Timeline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Months 1-3: Finalize Pacetronix contract, Begin architecture design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Months 4-6: Medical ASIC development, Start RISC-V core design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Months 7-9: Pacetronix verification phase, RISC-V prototype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Months 10-12: Pacetronix tape-out, RISC-V customer demos</a:t>
            </a:r>
          </a:p>
          <a:p>
            <a:pPr>
              <a:spcBef>
                <a:spcPts val="800"/>
              </a:spcBef>
              <a:defRPr sz="1800">
                <a:solidFill>
                  <a:srgbClr val="595959"/>
                </a:solidFill>
              </a:defRPr>
            </a:pPr>
            <a:r>
              <a:t>• Year 2: Pacetronix production, RISC-V first customers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22B14C"/>
          </a:solidFill>
          <a:ln>
            <a:solidFill>
              <a:srgbClr val="22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800">
                <a:solidFill>
                  <a:srgbClr val="FFFFFF"/>
                </a:solidFill>
              </a:defRPr>
            </a:pPr>
            <a:r>
              <a:t>Recommended Strategy: Hybrid Approach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Start with Pacetronix for immediate revenue while developing RISC-V IP in parallel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087"/>
                </a:solidFill>
              </a:defRPr>
            </a:pPr>
            <a:r>
              <a:t>Immediate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B0F0"/>
                </a:solidFill>
              </a:defRPr>
            </a:pPr>
            <a:r>
              <a:t>Pacetronix Partnership (This Week)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✓ Schedule technical deep-dive meeting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✓ Request detailed specifications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✓ Discuss NDA and contract terms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✓ Estimate resource requirements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✓ Define success metrics</a:t>
            </a:r>
          </a:p>
          <a:p>
            <a:br/>
            <a:pPr>
              <a:spcBef>
                <a:spcPts val="1200"/>
              </a:spcBef>
              <a:defRPr b="1" sz="2400">
                <a:solidFill>
                  <a:srgbClr val="00B0F0"/>
                </a:solidFill>
              </a:defRPr>
            </a:pPr>
            <a:r>
              <a:t>RISC-V Preparation (Next 30 Days)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◆ Complete market research &amp; competitive analysis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◆ Define core architecture &amp; differentiators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◆ Build DV infrastructure &amp; methodology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◆ Identify potential pilot customers</a:t>
            </a:r>
          </a:p>
          <a:p>
            <a:pPr>
              <a:spcBef>
                <a:spcPts val="600"/>
              </a:spcBef>
              <a:defRPr sz="1800">
                <a:solidFill>
                  <a:srgbClr val="595959"/>
                </a:solidFill>
              </a:defRPr>
            </a:pPr>
            <a:r>
              <a:t>◆ Create funding plan &amp; investor pitch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087"/>
                </a:solidFill>
              </a:defRPr>
            </a:pPr>
            <a:r>
              <a:t>Appendix: DV Strategy for Both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B0F0"/>
                </a:solidFill>
              </a:defRPr>
            </a:pPr>
            <a:r>
              <a:t>Leveraging Your DV Expertise</a:t>
            </a:r>
          </a:p>
          <a:p>
            <a:br/>
            <a:pPr>
              <a:spcBef>
                <a:spcPts val="800"/>
              </a:spcBef>
              <a:defRPr b="1" sz="2000">
                <a:solidFill>
                  <a:srgbClr val="003087"/>
                </a:solidFill>
              </a:defRPr>
            </a:pPr>
            <a:r>
              <a:t>Pacetronix DV Focus: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ISO 13485 compliant verification methodology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Fault injection &amp; safety verification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Power-aware verification for battery life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Analog mixed-signal verification</a:t>
            </a:r>
          </a:p>
          <a:p>
            <a:br/>
            <a:pPr>
              <a:spcBef>
                <a:spcPts val="800"/>
              </a:spcBef>
              <a:defRPr b="1" sz="2000">
                <a:solidFill>
                  <a:srgbClr val="003087"/>
                </a:solidFill>
              </a:defRPr>
            </a:pPr>
            <a:r>
              <a:t>RISC-V DV Advantage: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Pre-built UVM testbenches as product differentiator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RISC-V compliance test suite integration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Performance verification infrastructure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Open-source contribution opportunity</a:t>
            </a:r>
          </a:p>
          <a:p>
            <a:br/>
            <a:pPr>
              <a:spcBef>
                <a:spcPts val="800"/>
              </a:spcBef>
              <a:defRPr b="1" sz="2000">
                <a:solidFill>
                  <a:srgbClr val="003087"/>
                </a:solidFill>
              </a:defRPr>
            </a:pPr>
            <a:r>
              <a:t>Common DV Infrastructure: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Reusable verification IP development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Continuous integration setup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Coverage-driven verification</a:t>
            </a:r>
          </a:p>
          <a:p>
            <a:pPr>
              <a:spcBef>
                <a:spcPts val="400"/>
              </a:spcBef>
              <a:defRPr sz="1600">
                <a:solidFill>
                  <a:srgbClr val="595959"/>
                </a:solidFill>
              </a:defRPr>
            </a:pPr>
            <a:r>
              <a:t>- Formal verification for critical blocks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